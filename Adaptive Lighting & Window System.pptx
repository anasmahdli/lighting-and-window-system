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  <p:embeddedFont>
      <p:font typeface="Urbanist Medium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028A85-AF4D-4EA7-84AA-117F56B7C2DF}">
  <a:tblStyle styleId="{CF028A85-AF4D-4EA7-84AA-117F56B7C2D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10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807964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Adaptive </a:t>
            </a:r>
            <a:r>
              <a:rPr lang="en-US" sz="5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Lighting</a:t>
            </a:r>
            <a:r>
              <a:rPr lang="en-US" sz="54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&amp;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Window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0" y="4527649"/>
            <a:ext cx="1219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Anas Hatem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Mahdali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| 239045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0" y="5147148"/>
            <a:ext cx="12192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British University in Egypt | Industrial </a:t>
            </a:r>
            <a:r>
              <a:rPr lang="en-US" sz="12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Internet of Things | 25MTRN04H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A603D7-8915-1CB3-E681-C97B8C998710}"/>
              </a:ext>
            </a:extLst>
          </p:cNvPr>
          <p:cNvSpPr txBox="1"/>
          <p:nvPr/>
        </p:nvSpPr>
        <p:spPr>
          <a:xfrm>
            <a:off x="0" y="369270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Autonomous IoT Environmental Control &amp; 3D Digital Twin Integration</a:t>
            </a:r>
            <a:endParaRPr lang="en-US" sz="1800" dirty="0"/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952750"/>
            <a:ext cx="381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12.05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476750"/>
            <a:ext cx="3810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kWh Wasted Per Home/Year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143500" y="2933700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Inefficient Resource Management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143500" y="3448050"/>
            <a:ext cx="4762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Average households lose significant energy due to forgotten lighting and ventilation. This project leverages the ESP32 to bridge the gap between occupant behavior and environmental efficiency.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Cost of 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Energy Waste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0762"/>
            <a:ext cx="349240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90762"/>
            <a:ext cx="349254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90762"/>
            <a:ext cx="349240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8128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62025" y="349091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Autonomy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400526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Intelligent control of lighting and windows based on real-time sensory perception.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268128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4740175" y="3490912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Safety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740175" y="400526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Prioritizing human life through advanced gas leak detection and automated ventilation.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268128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518475" y="349091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Transparency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18475" y="400526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Real-time telemetry mirrored through 2D cloud dashboards and 3D digital twins.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81087" y="283368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92575" y="283368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70875" y="28336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5A9ACA-6952-D52F-D52E-33F4DB0D0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140" y="3464424"/>
            <a:ext cx="2311098" cy="2311098"/>
          </a:xfrm>
          <a:prstGeom prst="rect">
            <a:avLst/>
          </a:prstGeom>
        </p:spPr>
      </p:pic>
      <p:sp>
        <p:nvSpPr>
          <p:cNvPr id="127" name="Google Shape;127;p16"/>
          <p:cNvSpPr txBox="1"/>
          <p:nvPr/>
        </p:nvSpPr>
        <p:spPr>
          <a:xfrm>
            <a:off x="1047750" y="227647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DHT22: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High-precision temperature and humidity tracking.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47750" y="3124200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LDR 1 &amp; 2: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Mapping interior vs. exterior ambient light intensity.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47750" y="397192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PIR Sensor: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Passive Infrared detection for motion-based lighting.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47750" y="4819650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MQ5 Sensor: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Critical detection for combustible gases (LPG/Methane).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Perception Layer: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Sensors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764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24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719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196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B878B2-E5FA-FC60-9198-FFC0621A48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00" r="15332"/>
          <a:stretch>
            <a:fillRect/>
          </a:stretch>
        </p:blipFill>
        <p:spPr>
          <a:xfrm>
            <a:off x="9253728" y="1871256"/>
            <a:ext cx="2254510" cy="1937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D5DE90-A211-7AB3-8FB3-7BE6837012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9234" y="1871257"/>
            <a:ext cx="2224494" cy="2224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A6A0FD-2F76-53D9-B756-64337DA981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9234" y="4095750"/>
            <a:ext cx="2319685" cy="167977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EC556B-9A80-5E08-8543-F2404B586F8B}"/>
              </a:ext>
            </a:extLst>
          </p:cNvPr>
          <p:cNvSpPr/>
          <p:nvPr/>
        </p:nvSpPr>
        <p:spPr>
          <a:xfrm>
            <a:off x="7024877" y="1871256"/>
            <a:ext cx="4483361" cy="3904266"/>
          </a:xfrm>
          <a:prstGeom prst="roundRect">
            <a:avLst>
              <a:gd name="adj" fmla="val 16240"/>
            </a:avLst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08D21D-470B-F025-E8FF-3AE6C4EE23B5}"/>
              </a:ext>
            </a:extLst>
          </p:cNvPr>
          <p:cNvSpPr/>
          <p:nvPr/>
        </p:nvSpPr>
        <p:spPr>
          <a:xfrm>
            <a:off x="6879431" y="1724025"/>
            <a:ext cx="4775994" cy="4198145"/>
          </a:xfrm>
          <a:prstGeom prst="roundRect">
            <a:avLst>
              <a:gd name="adj" fmla="val 19146"/>
            </a:avLst>
          </a:prstGeom>
          <a:noFill/>
          <a:ln w="269875" cap="rnd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8C8564-91FA-E098-6DE7-9D8E46F0B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011" y="1808574"/>
            <a:ext cx="2363376" cy="2363376"/>
          </a:xfrm>
          <a:prstGeom prst="rect">
            <a:avLst/>
          </a:prstGeom>
        </p:spPr>
      </p:pic>
      <p:sp>
        <p:nvSpPr>
          <p:cNvPr id="145" name="Google Shape;145;p17"/>
          <p:cNvSpPr txBox="1"/>
          <p:nvPr/>
        </p:nvSpPr>
        <p:spPr>
          <a:xfrm>
            <a:off x="571500" y="4886325"/>
            <a:ext cx="349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Window and curtain sliding mechanisms driven by L298N drivers with precisely timed pulses.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349650" y="4886325"/>
            <a:ext cx="349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L9110 Fan Module used for rapid room cooling and toxic gas expulsion.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127950" y="4886325"/>
            <a:ext cx="349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High-efficiency 3W LED Module providing 200 lumens of occupancy-based illumination.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Action Layer: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Actuators</a:t>
            </a:r>
            <a:endParaRPr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2C01A1-B499-7212-2D2B-CF02211E3F29}"/>
              </a:ext>
            </a:extLst>
          </p:cNvPr>
          <p:cNvSpPr/>
          <p:nvPr/>
        </p:nvSpPr>
        <p:spPr>
          <a:xfrm>
            <a:off x="1136011" y="1800225"/>
            <a:ext cx="2363376" cy="2381249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C98C20-6DD8-6165-7EFB-524EADEE3EC7}"/>
              </a:ext>
            </a:extLst>
          </p:cNvPr>
          <p:cNvSpPr/>
          <p:nvPr/>
        </p:nvSpPr>
        <p:spPr>
          <a:xfrm>
            <a:off x="990600" y="1650207"/>
            <a:ext cx="2657475" cy="2678906"/>
          </a:xfrm>
          <a:prstGeom prst="roundRect">
            <a:avLst>
              <a:gd name="adj" fmla="val 20687"/>
            </a:avLst>
          </a:prstGeom>
          <a:noFill/>
          <a:ln w="269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2F26A5-C21D-19AA-5BAA-F122CF20366C}"/>
              </a:ext>
            </a:extLst>
          </p:cNvPr>
          <p:cNvSpPr/>
          <p:nvPr/>
        </p:nvSpPr>
        <p:spPr>
          <a:xfrm>
            <a:off x="4912673" y="1800225"/>
            <a:ext cx="2363376" cy="2381249"/>
          </a:xfrm>
          <a:prstGeom prst="round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EA5DBC-0D1A-4CDF-961A-E21671D8D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493" y="2312600"/>
            <a:ext cx="2039014" cy="139355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7B988E-6431-71F2-5DBE-A994DD282C52}"/>
              </a:ext>
            </a:extLst>
          </p:cNvPr>
          <p:cNvSpPr/>
          <p:nvPr/>
        </p:nvSpPr>
        <p:spPr>
          <a:xfrm>
            <a:off x="4767262" y="1650207"/>
            <a:ext cx="2657475" cy="2678906"/>
          </a:xfrm>
          <a:prstGeom prst="roundRect">
            <a:avLst>
              <a:gd name="adj" fmla="val 20687"/>
            </a:avLst>
          </a:prstGeom>
          <a:noFill/>
          <a:ln w="269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Google Shape;144;p17"/>
          <p:cNvSpPr txBox="1"/>
          <p:nvPr/>
        </p:nvSpPr>
        <p:spPr>
          <a:xfrm>
            <a:off x="484189" y="4371975"/>
            <a:ext cx="36670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Motion Controls</a:t>
            </a:r>
            <a:endParaRPr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40EE40-00B1-1CA7-7595-D88B1237EEE5}"/>
              </a:ext>
            </a:extLst>
          </p:cNvPr>
          <p:cNvSpPr/>
          <p:nvPr/>
        </p:nvSpPr>
        <p:spPr>
          <a:xfrm>
            <a:off x="8702805" y="1800225"/>
            <a:ext cx="2363376" cy="2381249"/>
          </a:xfrm>
          <a:prstGeom prst="round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055561-4022-3DA8-A3BB-68A9943C59C7}"/>
              </a:ext>
            </a:extLst>
          </p:cNvPr>
          <p:cNvSpPr/>
          <p:nvPr/>
        </p:nvSpPr>
        <p:spPr>
          <a:xfrm>
            <a:off x="8557394" y="1650207"/>
            <a:ext cx="2657475" cy="2678906"/>
          </a:xfrm>
          <a:prstGeom prst="roundRect">
            <a:avLst>
              <a:gd name="adj" fmla="val 20687"/>
            </a:avLst>
          </a:prstGeom>
          <a:noFill/>
          <a:ln w="269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3C18F0-7EE0-6FF7-57FE-7D047C8D80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4415" y="2209800"/>
            <a:ext cx="1892284" cy="1530337"/>
          </a:xfrm>
          <a:prstGeom prst="rect">
            <a:avLst/>
          </a:prstGeom>
        </p:spPr>
      </p:pic>
      <p:sp>
        <p:nvSpPr>
          <p:cNvPr id="146" name="Google Shape;146;p17"/>
          <p:cNvSpPr txBox="1"/>
          <p:nvPr/>
        </p:nvSpPr>
        <p:spPr>
          <a:xfrm>
            <a:off x="4262337" y="4371975"/>
            <a:ext cx="36671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Active Ventilation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8040640" y="4371975"/>
            <a:ext cx="36670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Smart Lighting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1047750" y="2700337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Tier 1: Absolute Failsafe: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High-priority emergency protocol that overrides all local and remote inputs during gas detection.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47750" y="354806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Tier 2: Automated Mode: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Intelligent regulation using thermal thresholds (&gt;30°C) and light intensity (&gt;2000 lux).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047750" y="4395787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Tier 3: Manual Override: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Direct cloud-based control via MQTT topics, granting user agency over specific actuators.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State Management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Hierarchy</a:t>
            </a:r>
            <a:endParaRPr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003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48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957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3175"/>
            <a:ext cx="538162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43174"/>
            <a:ext cx="5381625" cy="2705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962025" y="2933700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Trigger: 60% Gas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62025" y="3448050"/>
            <a:ext cx="46005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Upon detecting combustible gas levels exceeding 60%, the system initiates a total lockout, forcing windows and curtains open while engaging full-power ventilation.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629400" y="2933700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Release: 40% Gas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6629400" y="3448050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 prevent motor stuttering from sensor jitter, the "Hysteresis" logic only releases control once levels drop safely below 40%.</a:t>
            </a:r>
            <a:endParaRPr dirty="0"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Emergency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Protocol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5619750" y="2640359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0" y="2868959"/>
            <a:ext cx="12192000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Network </a:t>
            </a:r>
            <a:r>
              <a:rPr lang="en-US" sz="54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 dirty="0"/>
          </a:p>
        </p:txBody>
      </p:sp>
      <p:sp>
        <p:nvSpPr>
          <p:cNvPr id="185" name="Google Shape;185;p20"/>
          <p:cNvSpPr txBox="1"/>
          <p:nvPr/>
        </p:nvSpPr>
        <p:spPr>
          <a:xfrm>
            <a:off x="0" y="3813720"/>
            <a:ext cx="1219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Multi-Pipeline Telemetry for Scalable IoT Performance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21"/>
          <p:cNvGraphicFramePr/>
          <p:nvPr>
            <p:extLst>
              <p:ext uri="{D42A27DB-BD31-4B8C-83A1-F6EECF244321}">
                <p14:modId xmlns:p14="http://schemas.microsoft.com/office/powerpoint/2010/main" val="668856743"/>
              </p:ext>
            </p:extLst>
          </p:nvPr>
        </p:nvGraphicFramePr>
        <p:xfrm>
          <a:off x="571500" y="2595562"/>
          <a:ext cx="11048975" cy="2790800"/>
        </p:xfrm>
        <a:graphic>
          <a:graphicData uri="http://schemas.openxmlformats.org/drawingml/2006/table">
            <a:tbl>
              <a:tblPr firstRow="1" bandRow="1">
                <a:noFill/>
                <a:tableStyleId>{CF028A85-AF4D-4EA7-84AA-117F56B7C2DF}</a:tableStyleId>
              </a:tblPr>
              <a:tblGrid>
                <a:gridCol w="277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Pipeline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Technology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Update 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Real-Time Monitoring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Ubidots MQTT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2D Dashboards &amp; Remote Toggles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5.0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Historical Storage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GCP </a:t>
                      </a:r>
                      <a:r>
                        <a:rPr lang="en-US" sz="150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BigQuery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Long-term Data Analysis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60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Digital Twin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WebSockets (WS)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3D Visualization &amp; Low Latency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2.0 Seconds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2" name="Google Shape;192;p21"/>
          <p:cNvSpPr/>
          <p:nvPr/>
        </p:nvSpPr>
        <p:spPr>
          <a:xfrm>
            <a:off x="571500" y="3271837"/>
            <a:ext cx="2774156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345656" y="3271837"/>
            <a:ext cx="231978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665440" y="3271837"/>
            <a:ext cx="411346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9778900" y="3271837"/>
            <a:ext cx="184159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3981450"/>
            <a:ext cx="2774156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345656" y="3981450"/>
            <a:ext cx="231978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665440" y="3981450"/>
            <a:ext cx="411346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9778900" y="3981450"/>
            <a:ext cx="1841599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4676775"/>
            <a:ext cx="2774156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345656" y="4676775"/>
            <a:ext cx="231978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665440" y="4676775"/>
            <a:ext cx="411346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9778900" y="4676775"/>
            <a:ext cx="1841599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" y="5372100"/>
            <a:ext cx="2774156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345656" y="5372100"/>
            <a:ext cx="231978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665440" y="5372100"/>
            <a:ext cx="411346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9778900" y="5372100"/>
            <a:ext cx="1841599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Pipelines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71500" y="571500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3D Digital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Twin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2366962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Visual Mirroring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3024187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Built with Three.js and WebGL, the system features a 1:1 virtual replica of the physical environment. Actuators like fans and windows are animated in real-time to match physical motor timers.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46243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landscape textures swap based on LDR light data to simulate actual time-of-day environments.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79CFD-088A-FB4C-97B3-822ABEBE1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90"/>
            <a:ext cx="6096000" cy="3427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156866-9DA4-8F62-7F95-2FD0E486F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00250"/>
            <a:ext cx="18478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6391275" y="171926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Offline Resilience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6391275" y="2233612"/>
            <a:ext cx="52292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system actively monitors Wi-Fi and MQTT links. If a connection failure is detected, the ESP32 automatically defaults to "Local Auto Mode," ensuring environmental stability without cloud commands.</a:t>
            </a:r>
            <a:endParaRPr dirty="0"/>
          </a:p>
        </p:txBody>
      </p:sp>
      <p:sp>
        <p:nvSpPr>
          <p:cNvPr id="228" name="Google Shape;228;p23"/>
          <p:cNvSpPr txBox="1"/>
          <p:nvPr/>
        </p:nvSpPr>
        <p:spPr>
          <a:xfrm>
            <a:off x="6391275" y="404812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Power Isolation</a:t>
            </a:r>
            <a:endParaRPr dirty="0"/>
          </a:p>
        </p:txBody>
      </p:sp>
      <p:sp>
        <p:nvSpPr>
          <p:cNvPr id="229" name="Google Shape;229;p23"/>
          <p:cNvSpPr txBox="1"/>
          <p:nvPr/>
        </p:nvSpPr>
        <p:spPr>
          <a:xfrm>
            <a:off x="6391275" y="456247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Logic (3.3V/5V) is strictly isolated from load (9V/12V). Independent power supplies for motor drivers prevent brownouts during simultaneous actuator engagement.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Engineering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Robustness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24B69B-1B10-C13C-166F-DCD08BDFB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687" y="1982860"/>
            <a:ext cx="4667901" cy="3448531"/>
          </a:xfrm>
          <a:prstGeom prst="rect">
            <a:avLst/>
          </a:prstGeom>
          <a:ln w="25400" cap="rnd">
            <a:solidFill>
              <a:srgbClr val="92D050"/>
            </a:solidFill>
            <a:bevel/>
          </a:ln>
          <a:effectLst>
            <a:softEdge rad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05261" y="3524101"/>
            <a:ext cx="4181475" cy="1859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295275" y="1518493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Conclusion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0" y="2588802"/>
            <a:ext cx="121729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Feasible low-cost microcontroller integration with high-fidelity 3D cloud telemetry.</a:t>
            </a:r>
            <a:endParaRPr dirty="0"/>
          </a:p>
        </p:txBody>
      </p:sp>
      <p:sp>
        <p:nvSpPr>
          <p:cNvPr id="239" name="Google Shape;239;p24"/>
          <p:cNvSpPr txBox="1"/>
          <p:nvPr/>
        </p:nvSpPr>
        <p:spPr>
          <a:xfrm>
            <a:off x="4395787" y="3870870"/>
            <a:ext cx="34004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Any Questions?</a:t>
            </a:r>
            <a:endParaRPr dirty="0"/>
          </a:p>
        </p:txBody>
      </p:sp>
      <p:sp>
        <p:nvSpPr>
          <p:cNvPr id="240" name="Google Shape;240;p24"/>
          <p:cNvSpPr txBox="1"/>
          <p:nvPr/>
        </p:nvSpPr>
        <p:spPr>
          <a:xfrm>
            <a:off x="4395787" y="4453681"/>
            <a:ext cx="3400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anas239045@bue.edu.eg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Widescreen</PresentationFormat>
  <Paragraphs>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Urbanist Medium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Anas239045</cp:lastModifiedBy>
  <cp:revision>1</cp:revision>
  <dcterms:modified xsi:type="dcterms:W3CDTF">2026-05-10T14:55:04Z</dcterms:modified>
</cp:coreProperties>
</file>